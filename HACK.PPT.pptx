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0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B54B62-4314-4B7B-9516-E47CFCFCA663}" v="18" dt="2026-10-03T07:06:33.1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6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thika Gorita" userId="1131038238e80cd7" providerId="LiveId" clId="{42B499E8-C4E4-4198-88F4-142126BEC39E}"/>
    <pc:docChg chg="undo custSel addSld modSld sldOrd modMainMaster">
      <pc:chgData name="sarthika Gorita" userId="1131038238e80cd7" providerId="LiveId" clId="{42B499E8-C4E4-4198-88F4-142126BEC39E}" dt="2026-10-03T07:08:23.122" v="535" actId="478"/>
      <pc:docMkLst>
        <pc:docMk/>
      </pc:docMkLst>
      <pc:sldChg chg="addSp delSp modSp mod setBg">
        <pc:chgData name="sarthika Gorita" userId="1131038238e80cd7" providerId="LiveId" clId="{42B499E8-C4E4-4198-88F4-142126BEC39E}" dt="2026-10-03T07:07:34.972" v="520" actId="478"/>
        <pc:sldMkLst>
          <pc:docMk/>
          <pc:sldMk cId="0" sldId="256"/>
        </pc:sldMkLst>
        <pc:spChg chg="del">
          <ac:chgData name="sarthika Gorita" userId="1131038238e80cd7" providerId="LiveId" clId="{42B499E8-C4E4-4198-88F4-142126BEC39E}" dt="2026-10-03T07:07:32.492" v="519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sarthika Gorita" userId="1131038238e80cd7" providerId="LiveId" clId="{42B499E8-C4E4-4198-88F4-142126BEC39E}" dt="2026-10-03T07:07:34.972" v="520" actId="478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sarthika Gorita" userId="1131038238e80cd7" providerId="LiveId" clId="{42B499E8-C4E4-4198-88F4-142126BEC39E}" dt="2026-10-03T06:58:33.070" v="491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sarthika Gorita" userId="1131038238e80cd7" providerId="LiveId" clId="{42B499E8-C4E4-4198-88F4-142126BEC39E}" dt="2026-10-03T07:01:16.550" v="502" actId="207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sarthika Gorita" userId="1131038238e80cd7" providerId="LiveId" clId="{42B499E8-C4E4-4198-88F4-142126BEC39E}" dt="2026-10-03T06:59:46.980" v="498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sarthika Gorita" userId="1131038238e80cd7" providerId="LiveId" clId="{42B499E8-C4E4-4198-88F4-142126BEC39E}" dt="2026-10-03T07:01:30.746" v="505" actId="207"/>
          <ac:spMkLst>
            <pc:docMk/>
            <pc:sldMk cId="0" sldId="256"/>
            <ac:spMk id="7" creationId="{00000000-0000-0000-0000-000000000000}"/>
          </ac:spMkLst>
        </pc:spChg>
        <pc:spChg chg="mod">
          <ac:chgData name="sarthika Gorita" userId="1131038238e80cd7" providerId="LiveId" clId="{42B499E8-C4E4-4198-88F4-142126BEC39E}" dt="2026-10-03T06:47:43.596" v="256" actId="1076"/>
          <ac:spMkLst>
            <pc:docMk/>
            <pc:sldMk cId="0" sldId="256"/>
            <ac:spMk id="8" creationId="{00000000-0000-0000-0000-000000000000}"/>
          </ac:spMkLst>
        </pc:spChg>
        <pc:spChg chg="add del mod">
          <ac:chgData name="sarthika Gorita" userId="1131038238e80cd7" providerId="LiveId" clId="{42B499E8-C4E4-4198-88F4-142126BEC39E}" dt="2026-10-03T06:43:58.303" v="70"/>
          <ac:spMkLst>
            <pc:docMk/>
            <pc:sldMk cId="0" sldId="256"/>
            <ac:spMk id="19" creationId="{E6429632-68B1-E977-4BA3-7BB52D7F0AE0}"/>
          </ac:spMkLst>
        </pc:spChg>
        <pc:picChg chg="add del">
          <ac:chgData name="sarthika Gorita" userId="1131038238e80cd7" providerId="LiveId" clId="{42B499E8-C4E4-4198-88F4-142126BEC39E}" dt="2026-10-03T06:43:58.298" v="68" actId="478"/>
          <ac:picMkLst>
            <pc:docMk/>
            <pc:sldMk cId="0" sldId="256"/>
            <ac:picMk id="21" creationId="{F04C2FFD-EB26-9116-2B64-4ED26C6EB1A3}"/>
          </ac:picMkLst>
        </pc:picChg>
      </pc:sldChg>
      <pc:sldChg chg="delSp modSp mod setBg">
        <pc:chgData name="sarthika Gorita" userId="1131038238e80cd7" providerId="LiveId" clId="{42B499E8-C4E4-4198-88F4-142126BEC39E}" dt="2026-10-03T07:07:45.421" v="524" actId="478"/>
        <pc:sldMkLst>
          <pc:docMk/>
          <pc:sldMk cId="0" sldId="257"/>
        </pc:sldMkLst>
        <pc:spChg chg="del">
          <ac:chgData name="sarthika Gorita" userId="1131038238e80cd7" providerId="LiveId" clId="{42B499E8-C4E4-4198-88F4-142126BEC39E}" dt="2026-10-03T07:07:39.327" v="521" actId="478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sarthika Gorita" userId="1131038238e80cd7" providerId="LiveId" clId="{42B499E8-C4E4-4198-88F4-142126BEC39E}" dt="2026-10-03T07:07:45.421" v="524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sarthika Gorita" userId="1131038238e80cd7" providerId="LiveId" clId="{42B499E8-C4E4-4198-88F4-142126BEC39E}" dt="2026-10-03T06:58:39.695" v="492" actId="478"/>
          <ac:spMkLst>
            <pc:docMk/>
            <pc:sldMk cId="0" sldId="257"/>
            <ac:spMk id="4" creationId="{00000000-0000-0000-0000-000000000000}"/>
          </ac:spMkLst>
        </pc:spChg>
      </pc:sldChg>
      <pc:sldChg chg="delSp mod setBg">
        <pc:chgData name="sarthika Gorita" userId="1131038238e80cd7" providerId="LiveId" clId="{42B499E8-C4E4-4198-88F4-142126BEC39E}" dt="2026-10-03T07:07:51.736" v="526" actId="478"/>
        <pc:sldMkLst>
          <pc:docMk/>
          <pc:sldMk cId="0" sldId="258"/>
        </pc:sldMkLst>
        <pc:spChg chg="del">
          <ac:chgData name="sarthika Gorita" userId="1131038238e80cd7" providerId="LiveId" clId="{42B499E8-C4E4-4198-88F4-142126BEC39E}" dt="2026-10-03T07:07:49.232" v="525" actId="478"/>
          <ac:spMkLst>
            <pc:docMk/>
            <pc:sldMk cId="0" sldId="258"/>
            <ac:spMk id="2" creationId="{00000000-0000-0000-0000-000000000000}"/>
          </ac:spMkLst>
        </pc:spChg>
        <pc:spChg chg="del">
          <ac:chgData name="sarthika Gorita" userId="1131038238e80cd7" providerId="LiveId" clId="{42B499E8-C4E4-4198-88F4-142126BEC39E}" dt="2026-10-03T07:07:51.736" v="526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sarthika Gorita" userId="1131038238e80cd7" providerId="LiveId" clId="{42B499E8-C4E4-4198-88F4-142126BEC39E}" dt="2026-10-03T07:01:39.611" v="506" actId="478"/>
          <ac:spMkLst>
            <pc:docMk/>
            <pc:sldMk cId="0" sldId="258"/>
            <ac:spMk id="4" creationId="{00000000-0000-0000-0000-000000000000}"/>
          </ac:spMkLst>
        </pc:spChg>
      </pc:sldChg>
      <pc:sldChg chg="delSp modSp mod setBg">
        <pc:chgData name="sarthika Gorita" userId="1131038238e80cd7" providerId="LiveId" clId="{42B499E8-C4E4-4198-88F4-142126BEC39E}" dt="2026-10-03T07:08:03.652" v="529" actId="478"/>
        <pc:sldMkLst>
          <pc:docMk/>
          <pc:sldMk cId="0" sldId="259"/>
        </pc:sldMkLst>
        <pc:spChg chg="del">
          <ac:chgData name="sarthika Gorita" userId="1131038238e80cd7" providerId="LiveId" clId="{42B499E8-C4E4-4198-88F4-142126BEC39E}" dt="2026-10-03T07:07:57.493" v="527" actId="478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sarthika Gorita" userId="1131038238e80cd7" providerId="LiveId" clId="{42B499E8-C4E4-4198-88F4-142126BEC39E}" dt="2026-10-03T07:08:03.652" v="529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sarthika Gorita" userId="1131038238e80cd7" providerId="LiveId" clId="{42B499E8-C4E4-4198-88F4-142126BEC39E}" dt="2026-10-03T07:01:51.818" v="508" actId="478"/>
          <ac:spMkLst>
            <pc:docMk/>
            <pc:sldMk cId="0" sldId="259"/>
            <ac:spMk id="4" creationId="{00000000-0000-0000-0000-000000000000}"/>
          </ac:spMkLst>
        </pc:spChg>
      </pc:sldChg>
      <pc:sldChg chg="delSp mod setBg">
        <pc:chgData name="sarthika Gorita" userId="1131038238e80cd7" providerId="LiveId" clId="{42B499E8-C4E4-4198-88F4-142126BEC39E}" dt="2026-10-03T07:08:23.122" v="535" actId="478"/>
        <pc:sldMkLst>
          <pc:docMk/>
          <pc:sldMk cId="0" sldId="260"/>
        </pc:sldMkLst>
        <pc:spChg chg="del">
          <ac:chgData name="sarthika Gorita" userId="1131038238e80cd7" providerId="LiveId" clId="{42B499E8-C4E4-4198-88F4-142126BEC39E}" dt="2026-10-03T07:08:20.739" v="534" actId="478"/>
          <ac:spMkLst>
            <pc:docMk/>
            <pc:sldMk cId="0" sldId="260"/>
            <ac:spMk id="2" creationId="{00000000-0000-0000-0000-000000000000}"/>
          </ac:spMkLst>
        </pc:spChg>
        <pc:spChg chg="del">
          <ac:chgData name="sarthika Gorita" userId="1131038238e80cd7" providerId="LiveId" clId="{42B499E8-C4E4-4198-88F4-142126BEC39E}" dt="2026-10-03T07:08:23.122" v="535" actId="478"/>
          <ac:spMkLst>
            <pc:docMk/>
            <pc:sldMk cId="0" sldId="260"/>
            <ac:spMk id="3" creationId="{00000000-0000-0000-0000-000000000000}"/>
          </ac:spMkLst>
        </pc:spChg>
        <pc:spChg chg="del">
          <ac:chgData name="sarthika Gorita" userId="1131038238e80cd7" providerId="LiveId" clId="{42B499E8-C4E4-4198-88F4-142126BEC39E}" dt="2026-10-03T07:01:55.609" v="509" actId="478"/>
          <ac:spMkLst>
            <pc:docMk/>
            <pc:sldMk cId="0" sldId="260"/>
            <ac:spMk id="4" creationId="{00000000-0000-0000-0000-000000000000}"/>
          </ac:spMkLst>
        </pc:spChg>
      </pc:sldChg>
      <pc:sldChg chg="delSp mod setBg">
        <pc:chgData name="sarthika Gorita" userId="1131038238e80cd7" providerId="LiveId" clId="{42B499E8-C4E4-4198-88F4-142126BEC39E}" dt="2026-10-03T07:08:15.901" v="533" actId="478"/>
        <pc:sldMkLst>
          <pc:docMk/>
          <pc:sldMk cId="0" sldId="261"/>
        </pc:sldMkLst>
        <pc:spChg chg="del">
          <ac:chgData name="sarthika Gorita" userId="1131038238e80cd7" providerId="LiveId" clId="{42B499E8-C4E4-4198-88F4-142126BEC39E}" dt="2026-10-03T07:08:15.901" v="533" actId="478"/>
          <ac:spMkLst>
            <pc:docMk/>
            <pc:sldMk cId="0" sldId="261"/>
            <ac:spMk id="2" creationId="{00000000-0000-0000-0000-000000000000}"/>
          </ac:spMkLst>
        </pc:spChg>
        <pc:spChg chg="del">
          <ac:chgData name="sarthika Gorita" userId="1131038238e80cd7" providerId="LiveId" clId="{42B499E8-C4E4-4198-88F4-142126BEC39E}" dt="2026-10-03T07:08:13.344" v="532" actId="478"/>
          <ac:spMkLst>
            <pc:docMk/>
            <pc:sldMk cId="0" sldId="261"/>
            <ac:spMk id="3" creationId="{00000000-0000-0000-0000-000000000000}"/>
          </ac:spMkLst>
        </pc:spChg>
        <pc:spChg chg="del">
          <ac:chgData name="sarthika Gorita" userId="1131038238e80cd7" providerId="LiveId" clId="{42B499E8-C4E4-4198-88F4-142126BEC39E}" dt="2026-10-03T07:01:47.327" v="507" actId="478"/>
          <ac:spMkLst>
            <pc:docMk/>
            <pc:sldMk cId="0" sldId="261"/>
            <ac:spMk id="4" creationId="{00000000-0000-0000-0000-000000000000}"/>
          </ac:spMkLst>
        </pc:spChg>
      </pc:sldChg>
      <pc:sldChg chg="delSp mod setBg">
        <pc:chgData name="sarthika Gorita" userId="1131038238e80cd7" providerId="LiveId" clId="{42B499E8-C4E4-4198-88F4-142126BEC39E}" dt="2026-10-03T07:08:10.279" v="531" actId="478"/>
        <pc:sldMkLst>
          <pc:docMk/>
          <pc:sldMk cId="0" sldId="262"/>
        </pc:sldMkLst>
        <pc:spChg chg="del">
          <ac:chgData name="sarthika Gorita" userId="1131038238e80cd7" providerId="LiveId" clId="{42B499E8-C4E4-4198-88F4-142126BEC39E}" dt="2026-10-03T07:08:10.279" v="531" actId="478"/>
          <ac:spMkLst>
            <pc:docMk/>
            <pc:sldMk cId="0" sldId="262"/>
            <ac:spMk id="2" creationId="{00000000-0000-0000-0000-000000000000}"/>
          </ac:spMkLst>
        </pc:spChg>
        <pc:spChg chg="del">
          <ac:chgData name="sarthika Gorita" userId="1131038238e80cd7" providerId="LiveId" clId="{42B499E8-C4E4-4198-88F4-142126BEC39E}" dt="2026-10-03T07:08:07.936" v="530" actId="478"/>
          <ac:spMkLst>
            <pc:docMk/>
            <pc:sldMk cId="0" sldId="262"/>
            <ac:spMk id="3" creationId="{00000000-0000-0000-0000-000000000000}"/>
          </ac:spMkLst>
        </pc:spChg>
      </pc:sldChg>
      <pc:sldChg chg="addSp delSp mod ord">
        <pc:chgData name="sarthika Gorita" userId="1131038238e80cd7" providerId="LiveId" clId="{42B499E8-C4E4-4198-88F4-142126BEC39E}" dt="2026-10-03T06:58:43.834" v="494"/>
        <pc:sldMkLst>
          <pc:docMk/>
          <pc:sldMk cId="4147632223" sldId="263"/>
        </pc:sldMkLst>
        <pc:spChg chg="add del">
          <ac:chgData name="sarthika Gorita" userId="1131038238e80cd7" providerId="LiveId" clId="{42B499E8-C4E4-4198-88F4-142126BEC39E}" dt="2026-10-03T06:36:24.849" v="1" actId="478"/>
          <ac:spMkLst>
            <pc:docMk/>
            <pc:sldMk cId="4147632223" sldId="263"/>
            <ac:spMk id="3" creationId="{B0AA8427-3343-D558-2749-5D927BBCB6AF}"/>
          </ac:spMkLst>
        </pc:spChg>
        <pc:spChg chg="add">
          <ac:chgData name="sarthika Gorita" userId="1131038238e80cd7" providerId="LiveId" clId="{42B499E8-C4E4-4198-88F4-142126BEC39E}" dt="2026-10-03T06:38:40.762" v="2" actId="22"/>
          <ac:spMkLst>
            <pc:docMk/>
            <pc:sldMk cId="4147632223" sldId="263"/>
            <ac:spMk id="5" creationId="{5E283A5E-2FB3-1106-39C9-614A8F052607}"/>
          </ac:spMkLst>
        </pc:spChg>
      </pc:sldChg>
      <pc:sldChg chg="addSp delSp modSp new mod ord">
        <pc:chgData name="sarthika Gorita" userId="1131038238e80cd7" providerId="LiveId" clId="{42B499E8-C4E4-4198-88F4-142126BEC39E}" dt="2026-10-03T07:07:22.460" v="518" actId="255"/>
        <pc:sldMkLst>
          <pc:docMk/>
          <pc:sldMk cId="723767608" sldId="264"/>
        </pc:sldMkLst>
        <pc:spChg chg="add del mod">
          <ac:chgData name="sarthika Gorita" userId="1131038238e80cd7" providerId="LiveId" clId="{42B499E8-C4E4-4198-88F4-142126BEC39E}" dt="2026-10-03T06:45:24.807" v="149"/>
          <ac:spMkLst>
            <pc:docMk/>
            <pc:sldMk cId="723767608" sldId="264"/>
            <ac:spMk id="4" creationId="{A80D5735-EAEA-A209-43F4-D8303A500FAA}"/>
          </ac:spMkLst>
        </pc:spChg>
        <pc:spChg chg="add mod">
          <ac:chgData name="sarthika Gorita" userId="1131038238e80cd7" providerId="LiveId" clId="{42B499E8-C4E4-4198-88F4-142126BEC39E}" dt="2026-10-03T07:07:22.460" v="518" actId="255"/>
          <ac:spMkLst>
            <pc:docMk/>
            <pc:sldMk cId="723767608" sldId="264"/>
            <ac:spMk id="6" creationId="{41EF7877-B081-3ED9-7E22-B59EC64BB414}"/>
          </ac:spMkLst>
        </pc:spChg>
        <pc:spChg chg="add mod">
          <ac:chgData name="sarthika Gorita" userId="1131038238e80cd7" providerId="LiveId" clId="{42B499E8-C4E4-4198-88F4-142126BEC39E}" dt="2026-10-03T07:07:08.722" v="516" actId="1076"/>
          <ac:spMkLst>
            <pc:docMk/>
            <pc:sldMk cId="723767608" sldId="264"/>
            <ac:spMk id="8" creationId="{81774F05-CED8-5EE8-8E86-6EC0EEF54D8B}"/>
          </ac:spMkLst>
        </pc:spChg>
        <pc:spChg chg="add del mod">
          <ac:chgData name="sarthika Gorita" userId="1131038238e80cd7" providerId="LiveId" clId="{42B499E8-C4E4-4198-88F4-142126BEC39E}" dt="2026-10-03T06:51:16.652" v="408"/>
          <ac:spMkLst>
            <pc:docMk/>
            <pc:sldMk cId="723767608" sldId="264"/>
            <ac:spMk id="9" creationId="{3A29A757-E71D-52BF-1AFA-8B4B27F2EAEA}"/>
          </ac:spMkLst>
        </pc:spChg>
        <pc:spChg chg="add mod">
          <ac:chgData name="sarthika Gorita" userId="1131038238e80cd7" providerId="LiveId" clId="{42B499E8-C4E4-4198-88F4-142126BEC39E}" dt="2026-10-03T07:05:20.856" v="511" actId="1076"/>
          <ac:spMkLst>
            <pc:docMk/>
            <pc:sldMk cId="723767608" sldId="264"/>
            <ac:spMk id="10" creationId="{74D5E463-E348-2127-6C79-4BD4D57F2F7A}"/>
          </ac:spMkLst>
        </pc:spChg>
        <pc:spChg chg="add del mod">
          <ac:chgData name="sarthika Gorita" userId="1131038238e80cd7" providerId="LiveId" clId="{42B499E8-C4E4-4198-88F4-142126BEC39E}" dt="2026-10-03T06:54:12.292" v="449" actId="478"/>
          <ac:spMkLst>
            <pc:docMk/>
            <pc:sldMk cId="723767608" sldId="264"/>
            <ac:spMk id="11" creationId="{ED5EB792-A5BE-E70F-4511-CBD761B4ED81}"/>
          </ac:spMkLst>
        </pc:spChg>
        <pc:spChg chg="add mod">
          <ac:chgData name="sarthika Gorita" userId="1131038238e80cd7" providerId="LiveId" clId="{42B499E8-C4E4-4198-88F4-142126BEC39E}" dt="2026-10-03T06:54:52.488" v="467" actId="20577"/>
          <ac:spMkLst>
            <pc:docMk/>
            <pc:sldMk cId="723767608" sldId="264"/>
            <ac:spMk id="12" creationId="{0F70EE51-668E-ADF4-1D0A-468F2C960EA4}"/>
          </ac:spMkLst>
        </pc:spChg>
        <pc:spChg chg="add mod">
          <ac:chgData name="sarthika Gorita" userId="1131038238e80cd7" providerId="LiveId" clId="{42B499E8-C4E4-4198-88F4-142126BEC39E}" dt="2026-10-03T07:05:51.918" v="513" actId="1076"/>
          <ac:spMkLst>
            <pc:docMk/>
            <pc:sldMk cId="723767608" sldId="264"/>
            <ac:spMk id="13" creationId="{DE57BC98-E767-BC33-A59D-9CD60BBA6310}"/>
          </ac:spMkLst>
        </pc:spChg>
        <pc:picChg chg="add del mod">
          <ac:chgData name="sarthika Gorita" userId="1131038238e80cd7" providerId="LiveId" clId="{42B499E8-C4E4-4198-88F4-142126BEC39E}" dt="2026-10-03T06:55:22.710" v="468" actId="478"/>
          <ac:picMkLst>
            <pc:docMk/>
            <pc:sldMk cId="723767608" sldId="264"/>
            <ac:picMk id="3" creationId="{CBF3D400-38AC-C3A8-DF28-6CC5CD2EAA0A}"/>
          </ac:picMkLst>
        </pc:picChg>
      </pc:sldChg>
      <pc:sldMasterChg chg="setBg">
        <pc:chgData name="sarthika Gorita" userId="1131038238e80cd7" providerId="LiveId" clId="{42B499E8-C4E4-4198-88F4-142126BEC39E}" dt="2026-10-03T06:59:02.277" v="495"/>
        <pc:sldMasterMkLst>
          <pc:docMk/>
          <pc:sldMasterMk cId="889938389" sldId="2147483660"/>
        </pc:sldMasterMkLst>
      </pc:sldMasterChg>
      <pc:sldMasterChg chg="setBg">
        <pc:chgData name="sarthika Gorita" userId="1131038238e80cd7" providerId="LiveId" clId="{42B499E8-C4E4-4198-88F4-142126BEC39E}" dt="2026-10-03T06:59:18.642" v="496"/>
        <pc:sldMasterMkLst>
          <pc:docMk/>
          <pc:sldMasterMk cId="2528236521" sldId="2147483672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4600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878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36168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38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7397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81301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912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9606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064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880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16699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246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2262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32138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43144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3749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4260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6988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24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903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7977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4145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36381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899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183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098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1002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17996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56" r:id="rId16"/>
    <p:sldLayoutId id="2147483757" r:id="rId17"/>
    <p:sldLayoutId id="2147483758" r:id="rId18"/>
    <p:sldLayoutId id="2147483759" r:id="rId19"/>
    <p:sldLayoutId id="2147483760" r:id="rId20"/>
    <p:sldLayoutId id="2147483761" r:id="rId21"/>
    <p:sldLayoutId id="2147483762" r:id="rId22"/>
    <p:sldLayoutId id="2147483763" r:id="rId23"/>
    <p:sldLayoutId id="2147483764" r:id="rId24"/>
    <p:sldLayoutId id="2147483765" r:id="rId25"/>
    <p:sldLayoutId id="2147483766" r:id="rId26"/>
    <p:sldLayoutId id="2147483767" r:id="rId2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1EF7877-B081-3ED9-7E22-B59EC64BB414}"/>
              </a:ext>
            </a:extLst>
          </p:cNvPr>
          <p:cNvSpPr txBox="1"/>
          <p:nvPr/>
        </p:nvSpPr>
        <p:spPr>
          <a:xfrm>
            <a:off x="2524062" y="1050279"/>
            <a:ext cx="67703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32C56"/>
                </a:solidFill>
                <a:latin typeface="Aptos"/>
              </a:defRPr>
            </a:pPr>
            <a:r>
              <a:rPr lang="en-IN" sz="3200" dirty="0"/>
              <a:t>Scholarship Candidate Selection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774F05-CED8-5EE8-8E86-6EC0EEF54D8B}"/>
              </a:ext>
            </a:extLst>
          </p:cNvPr>
          <p:cNvSpPr txBox="1"/>
          <p:nvPr/>
        </p:nvSpPr>
        <p:spPr>
          <a:xfrm>
            <a:off x="2639775" y="1869280"/>
            <a:ext cx="6263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</a:t>
            </a:r>
            <a:r>
              <a:rPr lang="en-US" sz="1800" dirty="0"/>
              <a:t>ransform uploaded applicant data into explainable, budget-aware scholarship decisions using real algorithms.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D5E463-E348-2127-6C79-4BD4D57F2F7A}"/>
              </a:ext>
            </a:extLst>
          </p:cNvPr>
          <p:cNvSpPr txBox="1"/>
          <p:nvPr/>
        </p:nvSpPr>
        <p:spPr>
          <a:xfrm flipH="1">
            <a:off x="2756965" y="3745618"/>
            <a:ext cx="37624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N.LOVKYAA – 25MVCSMR0691</a:t>
            </a:r>
          </a:p>
          <a:p>
            <a:r>
              <a:rPr lang="en-US" dirty="0"/>
              <a:t>N.SRIVIDYA – 25MVCSMR0693</a:t>
            </a:r>
          </a:p>
          <a:p>
            <a:r>
              <a:rPr lang="en-US" dirty="0"/>
              <a:t>D.PRANITHA – 25MVCSMR0639</a:t>
            </a:r>
          </a:p>
          <a:p>
            <a:r>
              <a:rPr lang="en-US" dirty="0"/>
              <a:t>G.SARTHIKA – 25MVCSMR0686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70EE51-668E-ADF4-1D0A-468F2C960EA4}"/>
              </a:ext>
            </a:extLst>
          </p:cNvPr>
          <p:cNvSpPr txBox="1"/>
          <p:nvPr/>
        </p:nvSpPr>
        <p:spPr>
          <a:xfrm flipH="1">
            <a:off x="9603051" y="2750820"/>
            <a:ext cx="1064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57BC98-E767-BC33-A59D-9CD60BBA6310}"/>
              </a:ext>
            </a:extLst>
          </p:cNvPr>
          <p:cNvSpPr txBox="1"/>
          <p:nvPr/>
        </p:nvSpPr>
        <p:spPr>
          <a:xfrm>
            <a:off x="2756965" y="3244334"/>
            <a:ext cx="1417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TEAM:-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3767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60120" y="164592"/>
            <a:ext cx="10698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32C56"/>
                </a:solidFill>
                <a:latin typeface="Aptos"/>
              </a:defRPr>
            </a:pPr>
            <a:r>
              <a:rPr dirty="0">
                <a:solidFill>
                  <a:schemeClr val="tx2"/>
                </a:solidFill>
              </a:rPr>
              <a:t>Scholarship Candidate Selection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9720" y="1088136"/>
            <a:ext cx="63398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900" b="1">
                <a:solidFill>
                  <a:srgbClr val="132C56"/>
                </a:solidFill>
                <a:latin typeface="Aptos"/>
              </a:defRPr>
            </a:pPr>
            <a:r>
              <a:rPr dirty="0">
                <a:solidFill>
                  <a:schemeClr val="tx2"/>
                </a:solidFill>
              </a:rPr>
              <a:t>🎓 Scholarship Candidate</a:t>
            </a:r>
            <a:br>
              <a:rPr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                      selection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2107241"/>
            <a:ext cx="78638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00948F"/>
                </a:solidFill>
                <a:latin typeface="Aptos"/>
              </a:defRPr>
            </a:pPr>
            <a:r>
              <a:rPr lang="en-US" dirty="0"/>
              <a:t>Transform uploaded applicant data into explainable, budget-aware scholarship decisions using real algorithms.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58368" y="3063240"/>
            <a:ext cx="3429000" cy="2240280"/>
          </a:xfrm>
          <a:prstGeom prst="roundRect">
            <a:avLst/>
          </a:prstGeom>
          <a:solidFill>
            <a:srgbClr val="F2F7FF"/>
          </a:solidFill>
          <a:ln>
            <a:solidFill>
              <a:srgbClr val="D4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3191256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065D1"/>
                </a:solidFill>
                <a:latin typeface="Aptos"/>
              </a:defRPr>
            </a:pPr>
            <a:r>
              <a:rPr dirty="0"/>
              <a:t>PROJECT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538728"/>
            <a:ext cx="306324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82641"/>
                </a:solidFill>
                <a:latin typeface="Aptos"/>
              </a:defRPr>
            </a:pPr>
            <a:r>
              <a:t>Problem domain: education finance and scholarship allocation.</a:t>
            </a:r>
            <a:br/>
            <a:br/>
            <a:r>
              <a:t>Target users: scholarship administrators, review committees, students, and hackathon judges.</a:t>
            </a:r>
            <a:br/>
            <a:br/>
            <a:r>
              <a:t>Team: [Add names, roles, college]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3063240"/>
            <a:ext cx="3429000" cy="2240280"/>
          </a:xfrm>
          <a:prstGeom prst="roundRect">
            <a:avLst/>
          </a:prstGeom>
          <a:solidFill>
            <a:srgbClr val="F2F7FF"/>
          </a:solidFill>
          <a:ln>
            <a:solidFill>
              <a:srgbClr val="D4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3191256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6A47B0"/>
                </a:solidFill>
                <a:latin typeface="Aptos"/>
              </a:defRPr>
            </a:pPr>
            <a:r>
              <a:t>CORE DAA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538728"/>
            <a:ext cx="306324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82641"/>
                </a:solidFill>
                <a:latin typeface="Aptos"/>
              </a:defRPr>
            </a:pPr>
            <a:r>
              <a:t>• Merge Sort for candidate ranking</a:t>
            </a:r>
            <a:br/>
            <a:r>
              <a:t>• Greedy strategy for fast feasible selection</a:t>
            </a:r>
            <a:br/>
            <a:r>
              <a:t>• Dynamic Programming for optimal constrained selection</a:t>
            </a:r>
            <a:br/>
            <a:r>
              <a:t>• Complexity and result comparison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3063240"/>
            <a:ext cx="3429000" cy="2240280"/>
          </a:xfrm>
          <a:prstGeom prst="roundRect">
            <a:avLst/>
          </a:prstGeom>
          <a:solidFill>
            <a:srgbClr val="F2F7FF"/>
          </a:solidFill>
          <a:ln>
            <a:solidFill>
              <a:srgbClr val="D4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5" y="3191256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48657"/>
                </a:solidFill>
                <a:latin typeface="Aptos"/>
              </a:defRPr>
            </a:pPr>
            <a:r>
              <a:t>PROJECT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3538728"/>
            <a:ext cx="306324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82641"/>
                </a:solidFill>
                <a:latin typeface="Aptos"/>
              </a:defRPr>
            </a:pPr>
            <a:r>
              <a:t>A professional algorithm-visualization dashboard—not a simple student database. It keeps the data, decisions, and live algorithm steps visible together.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779008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5637A"/>
                </a:solidFill>
                <a:latin typeface="Aptos"/>
              </a:defRPr>
            </a:pPr>
            <a:r>
              <a:t>Key principle: eligibility rules are explicit; merit and financial need are scored transparently; each selected or rejected student receives a reason.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60120" y="164592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32C56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658368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55637A"/>
                </a:solidFill>
                <a:latin typeface="Aptos"/>
              </a:defRPr>
            </a:pPr>
            <a:r>
              <a:t>Selecting deserving candidates is a constrained decision problem, not only a ranking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474720" cy="4526280"/>
          </a:xfrm>
          <a:prstGeom prst="roundRect">
            <a:avLst/>
          </a:prstGeom>
          <a:solidFill>
            <a:srgbClr val="F2F7FF"/>
          </a:solidFill>
          <a:ln>
            <a:solidFill>
              <a:srgbClr val="D4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27101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BD3942"/>
                </a:solidFill>
                <a:latin typeface="Aptos"/>
              </a:defRPr>
            </a:pPr>
            <a:r>
              <a:t>REAL-WORLD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618488"/>
            <a:ext cx="3108960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82641"/>
                </a:solidFill>
                <a:latin typeface="Aptos"/>
              </a:defRPr>
            </a:pPr>
            <a:r>
              <a:t>Scholarship programs often receive many applications while having a fixed budget and limited number of awards.</a:t>
            </a:r>
            <a:br/>
            <a:br/>
            <a:r>
              <a:t>Manual review can be slow, difficult to audit, and inconsistent when records contain missing values, duplicates, or varying scholarship amounts.</a:t>
            </a:r>
            <a:br/>
            <a:br/>
            <a:r>
              <a:t>The system must turn raw application data into a reproducible decision process.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143000"/>
            <a:ext cx="3474720" cy="4526280"/>
          </a:xfrm>
          <a:prstGeom prst="roundRect">
            <a:avLst/>
          </a:prstGeom>
          <a:solidFill>
            <a:srgbClr val="F2F7FF"/>
          </a:solidFill>
          <a:ln>
            <a:solidFill>
              <a:srgbClr val="D4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27101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C48300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618488"/>
            <a:ext cx="3108960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82641"/>
                </a:solidFill>
                <a:latin typeface="Aptos"/>
              </a:defRPr>
            </a:pPr>
            <a:r>
              <a:t>• Students deserve clear eligibility outcomes</a:t>
            </a:r>
            <a:br/>
            <a:r>
              <a:t>• Committees need consistent policy application</a:t>
            </a:r>
            <a:br/>
            <a:r>
              <a:t>• Funds should be allocated within budget</a:t>
            </a:r>
            <a:br/>
            <a:r>
              <a:t>• Reviewers need to inspect decisions quickly</a:t>
            </a:r>
            <a:br/>
            <a:r>
              <a:t>• Judges need to see the actual role of algorithms</a:t>
            </a:r>
            <a:br/>
            <a:br/>
            <a:r>
              <a:t>The goal is decision support—not replacement of human policy-making.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143000"/>
            <a:ext cx="3474720" cy="4526280"/>
          </a:xfrm>
          <a:prstGeom prst="roundRect">
            <a:avLst/>
          </a:prstGeom>
          <a:solidFill>
            <a:srgbClr val="F2F7FF"/>
          </a:solidFill>
          <a:ln>
            <a:solidFill>
              <a:srgbClr val="D4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66175" y="127101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6A47B0"/>
                </a:solidFill>
                <a:latin typeface="Aptos"/>
              </a:defRPr>
            </a:pPr>
            <a:r>
              <a:t>KEY CONSTRAINTS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1618488"/>
            <a:ext cx="3108960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82641"/>
                </a:solidFill>
                <a:latin typeface="Aptos"/>
              </a:defRPr>
            </a:pPr>
            <a:r>
              <a:t>1. Validate uploaded CSV records before processing.</a:t>
            </a:r>
            <a:br/>
            <a:r>
              <a:t>2. Apply marks, income, category, and parent-job rules.</a:t>
            </a:r>
            <a:br/>
            <a:r>
              <a:t>3. Rank eligible candidates using transparent scores.</a:t>
            </a:r>
            <a:br/>
            <a:r>
              <a:t>4. Respect scholarship amount, slot, and total-budget constraints.</a:t>
            </a:r>
            <a:br/>
            <a:r>
              <a:t>5. Explain every selection and rejection.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60120" y="164592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32C56"/>
                </a:solidFill>
                <a:latin typeface="Aptos"/>
              </a:defRPr>
            </a:pPr>
            <a:r>
              <a:t>Our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658368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55637A"/>
                </a:solidFill>
                <a:latin typeface="Aptos"/>
              </a:defRPr>
            </a:pPr>
            <a:r>
              <a:t>An algorithm visualization dashboard that makes every stage of scholarship optimization understandable.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456432" cy="4526280"/>
          </a:xfrm>
          <a:prstGeom prst="roundRect">
            <a:avLst/>
          </a:prstGeom>
          <a:solidFill>
            <a:srgbClr val="F2F7FF"/>
          </a:solidFill>
          <a:ln>
            <a:solidFill>
              <a:srgbClr val="D4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271016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48657"/>
                </a:solidFill>
                <a:latin typeface="Aptos"/>
              </a:defRPr>
            </a:pPr>
            <a:r>
              <a:t>1. LIVE ALGORITHM 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618488"/>
            <a:ext cx="3090672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82641"/>
                </a:solidFill>
                <a:latin typeface="Aptos"/>
              </a:defRPr>
            </a:pPr>
            <a:r>
              <a:t>A collapsible right sidebar shows the real execution trace while the central dashboard remains visible.</a:t>
            </a:r>
            <a:br/>
            <a:br/>
            <a:r>
              <a:t>Examples:</a:t>
            </a:r>
            <a:br/>
            <a:r>
              <a:t>• Merge Sort comparisons and moves</a:t>
            </a:r>
            <a:br/>
            <a:r>
              <a:t>• Greedy budget/slot checks</a:t>
            </a:r>
            <a:br/>
            <a:r>
              <a:t>• DP include-versus-exclude decisions</a:t>
            </a:r>
            <a:br/>
            <a:r>
              <a:t>• Progress, status, and elapsed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143000"/>
            <a:ext cx="3456432" cy="4526280"/>
          </a:xfrm>
          <a:prstGeom prst="roundRect">
            <a:avLst/>
          </a:prstGeom>
          <a:solidFill>
            <a:srgbClr val="F2F7FF"/>
          </a:solidFill>
          <a:ln>
            <a:solidFill>
              <a:srgbClr val="D4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271016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065D1"/>
                </a:solidFill>
                <a:latin typeface="Aptos"/>
              </a:defRPr>
            </a:pPr>
            <a:r>
              <a:t>2. EXPLAINABLE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618488"/>
            <a:ext cx="3090672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82641"/>
                </a:solidFill>
                <a:latin typeface="Aptos"/>
              </a:defRPr>
            </a:pPr>
            <a:r>
              <a:t>Final score uses only visible components:</a:t>
            </a:r>
            <a:br/>
            <a:br/>
            <a:r>
              <a:t>Final Score =</a:t>
            </a:r>
            <a:br/>
            <a:r>
              <a:t>(Marks × Academic Weight) +</a:t>
            </a:r>
            <a:br/>
            <a:r>
              <a:t>(Financial Need Score × Need Weight)</a:t>
            </a:r>
            <a:br/>
            <a:br/>
            <a:r>
              <a:t>Financial need is derived from family income by a documented formula. Category and parent-government-job data remain eligibility constraints, not secret ranking bonuses.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143000"/>
            <a:ext cx="3456432" cy="4526280"/>
          </a:xfrm>
          <a:prstGeom prst="roundRect">
            <a:avLst/>
          </a:prstGeom>
          <a:solidFill>
            <a:srgbClr val="F2F7FF"/>
          </a:solidFill>
          <a:ln>
            <a:solidFill>
              <a:srgbClr val="D4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84463" y="1271016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6A47B0"/>
                </a:solidFill>
                <a:latin typeface="Aptos"/>
              </a:defRPr>
            </a:pPr>
            <a:r>
              <a:t>3. MEANINGFUL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3" y="1618488"/>
            <a:ext cx="3090672" cy="3959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82641"/>
                </a:solidFill>
                <a:latin typeface="Aptos"/>
              </a:defRPr>
            </a:pPr>
            <a:r>
              <a:t>The app runs two real selection methods on the same eligible set:</a:t>
            </a:r>
            <a:br/>
            <a:br/>
            <a:r>
              <a:t>Greedy: fast priority-first feasible selection.</a:t>
            </a:r>
            <a:br/>
            <a:br/>
            <a:r>
              <a:t>Dynamic Programming: maximum total benefit under budget and slot limits.</a:t>
            </a:r>
            <a:br/>
            <a:br/>
            <a:r>
              <a:t>The comparison presents trade-offs without claiming one method is always better.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60120" y="164592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32C56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658368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55637A"/>
                </a:solidFill>
                <a:latin typeface="Aptos"/>
              </a:defRPr>
            </a:pPr>
            <a:r>
              <a:t>The workflow prevents premature decisions and connects visualization to real computation.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325880"/>
            <a:ext cx="1161288" cy="603504"/>
          </a:xfrm>
          <a:prstGeom prst="roundRect">
            <a:avLst/>
          </a:prstGeom>
          <a:solidFill>
            <a:srgbClr val="206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1508760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Upload 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472184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5563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83664" y="1325880"/>
            <a:ext cx="1161288" cy="603504"/>
          </a:xfrm>
          <a:prstGeom prst="roundRect">
            <a:avLst/>
          </a:prstGeom>
          <a:solidFill>
            <a:srgbClr val="00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38528" y="1508760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Validate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4" y="1472184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5563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8416" y="1325880"/>
            <a:ext cx="1161288" cy="603504"/>
          </a:xfrm>
          <a:prstGeom prst="roundRect">
            <a:avLst/>
          </a:prstGeom>
          <a:solidFill>
            <a:srgbClr val="148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0" y="1508760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Eligibility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1472184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5563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73168" y="1325880"/>
            <a:ext cx="1161288" cy="603504"/>
          </a:xfrm>
          <a:prstGeom prst="roundRect">
            <a:avLst/>
          </a:prstGeom>
          <a:solidFill>
            <a:srgbClr val="C4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28032" y="1508760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1472184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5563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325880"/>
            <a:ext cx="1161288" cy="603504"/>
          </a:xfrm>
          <a:prstGeom prst="roundRect">
            <a:avLst/>
          </a:prstGeom>
          <a:solidFill>
            <a:srgbClr val="206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72784" y="1508760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Merge Sort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472184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5563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62672" y="1325880"/>
            <a:ext cx="1161288" cy="603504"/>
          </a:xfrm>
          <a:prstGeom prst="roundRect">
            <a:avLst/>
          </a:prstGeom>
          <a:solidFill>
            <a:srgbClr val="C4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17536" y="1508760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Greedy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1392" y="1472184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5563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07424" y="1325880"/>
            <a:ext cx="1161288" cy="603504"/>
          </a:xfrm>
          <a:prstGeom prst="roundRect">
            <a:avLst/>
          </a:prstGeom>
          <a:solidFill>
            <a:srgbClr val="6A4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62288" y="1508760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DP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96144" y="1472184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5563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52176" y="1325880"/>
            <a:ext cx="1161288" cy="603504"/>
          </a:xfrm>
          <a:prstGeom prst="roundRect">
            <a:avLst/>
          </a:prstGeom>
          <a:solidFill>
            <a:srgbClr val="148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07040" y="1508760"/>
            <a:ext cx="10607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2423160"/>
            <a:ext cx="5257800" cy="3383280"/>
          </a:xfrm>
          <a:prstGeom prst="roundRect">
            <a:avLst/>
          </a:prstGeom>
          <a:solidFill>
            <a:srgbClr val="F2F7FF"/>
          </a:solidFill>
          <a:ln>
            <a:solidFill>
              <a:srgbClr val="D4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7" y="2551176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065D1"/>
                </a:solidFill>
                <a:latin typeface="Aptos"/>
              </a:defRPr>
            </a:pPr>
            <a:r>
              <a:t>USER EXPERIENCE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2898648"/>
            <a:ext cx="489204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82641"/>
                </a:solidFill>
                <a:latin typeface="Aptos"/>
              </a:defRPr>
            </a:pPr>
            <a:r>
              <a:t>1. Upload a CSV file or load fictional demo data.</a:t>
            </a:r>
            <a:br/>
            <a:r>
              <a:t>2. Check detected students, valid/invalid rows, missing values, and duplicate IDs.</a:t>
            </a:r>
            <a:br/>
            <a:r>
              <a:t>3. Preview and filter students before running the process.</a:t>
            </a:r>
            <a:br/>
            <a:r>
              <a:t>4. Configure minimum marks, income limit, categories, parent-job rule, slots, budget, and weights.</a:t>
            </a:r>
            <a:br/>
            <a:r>
              <a:t>5. Click “Run Complete Selection.”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81928" y="2423160"/>
            <a:ext cx="5257800" cy="3383280"/>
          </a:xfrm>
          <a:prstGeom prst="roundRect">
            <a:avLst/>
          </a:prstGeom>
          <a:solidFill>
            <a:srgbClr val="F2F7FF"/>
          </a:solidFill>
          <a:ln>
            <a:solidFill>
              <a:srgbClr val="D4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64808" y="2551176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6A47B0"/>
                </a:solidFill>
                <a:latin typeface="Aptos"/>
              </a:defRPr>
            </a:pPr>
            <a:r>
              <a:t>WHAT HAPPENS DURING EXECUTION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8" y="2898648"/>
            <a:ext cx="489204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82641"/>
                </a:solidFill>
                <a:latin typeface="Aptos"/>
              </a:defRPr>
            </a:pPr>
            <a:r>
              <a:t>• Invalid records are separated with clear correction messages.</a:t>
            </a:r>
            <a:br/>
            <a:r>
              <a:t>• Ineligible candidates get exact reasons.</a:t>
            </a:r>
            <a:br/>
            <a:r>
              <a:t>• Eligible candidates receive academic, need, and final scores.</a:t>
            </a:r>
            <a:br/>
            <a:r>
              <a:t>• Merge Sort produces the ranking order.</a:t>
            </a:r>
            <a:br/>
            <a:r>
              <a:t>• Greedy and DP generate independent selections.</a:t>
            </a:r>
            <a:br/>
            <a:r>
              <a:t>• Results, charts, and explanations update alongside live activity.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60120" y="164592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32C56"/>
                </a:solidFill>
                <a:latin typeface="Aptos"/>
              </a:defRPr>
            </a:pPr>
            <a:r>
              <a:t>Technology &amp; Algorithm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658368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55637A"/>
                </a:solidFill>
                <a:latin typeface="Aptos"/>
              </a:defRPr>
            </a:pPr>
            <a:r>
              <a:t>The selected technologies support a local, responsive, hackathon-ready implementation.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3337560" cy="4754880"/>
          </a:xfrm>
          <a:prstGeom prst="roundRect">
            <a:avLst/>
          </a:prstGeom>
          <a:solidFill>
            <a:srgbClr val="F2F7FF"/>
          </a:solidFill>
          <a:ln>
            <a:solidFill>
              <a:srgbClr val="D4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225295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065D1"/>
                </a:solidFill>
                <a:latin typeface="Aptos"/>
              </a:defRPr>
            </a:pPr>
            <a:r>
              <a:t>TECH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572768"/>
            <a:ext cx="2971800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2641"/>
                </a:solidFill>
                <a:latin typeface="Aptos"/>
              </a:defRPr>
            </a:pPr>
            <a:r>
              <a:t>Frontend</a:t>
            </a:r>
            <a:br/>
            <a:r>
              <a:t>React + Vite for responsive components and state-driven dashboard updates.</a:t>
            </a:r>
            <a:br/>
            <a:br/>
            <a:r>
              <a:t>Styling</a:t>
            </a:r>
            <a:br/>
            <a:r>
              <a:t>Tailwind CSS for clean cards, responsive layout, badges, progress bars, and theme consistency.</a:t>
            </a:r>
            <a:br/>
            <a:br/>
            <a:r>
              <a:t>Visualization</a:t>
            </a:r>
            <a:br/>
            <a:r>
              <a:t>Recharts for budget, benefit, execution-time, and selection-count comparisons.</a:t>
            </a:r>
            <a:br/>
            <a:br/>
            <a:r>
              <a:t>Backend &amp; storage</a:t>
            </a:r>
            <a:br/>
            <a:r>
              <a:t>Flask or Node.js with SQLite/local JSON; no paid APIs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097280"/>
            <a:ext cx="3337560" cy="4754880"/>
          </a:xfrm>
          <a:prstGeom prst="roundRect">
            <a:avLst/>
          </a:prstGeom>
          <a:solidFill>
            <a:srgbClr val="F2F7FF"/>
          </a:solidFill>
          <a:ln>
            <a:solidFill>
              <a:srgbClr val="D4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08576" y="1225295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6A47B0"/>
                </a:solidFill>
                <a:latin typeface="Aptos"/>
              </a:defRPr>
            </a:pPr>
            <a:r>
              <a:t>REAL ALGORITHMS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1572768"/>
            <a:ext cx="2971800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2641"/>
                </a:solidFill>
                <a:latin typeface="Aptos"/>
              </a:defRPr>
            </a:pPr>
            <a:r>
              <a:t>MERGE SORT</a:t>
            </a:r>
            <a:br/>
            <a:r>
              <a:t>Ranks eligible candidates by marks, financial need, or combined score. The activity log maps to actual comparisons and merges.</a:t>
            </a:r>
            <a:br/>
            <a:br/>
            <a:r>
              <a:t>GREEDY</a:t>
            </a:r>
            <a:br/>
            <a:r>
              <a:t>Iterates through ranked candidates. For each one, checks eligibility, remaining budget, and slots before selecting or skipping.</a:t>
            </a:r>
            <a:br/>
            <a:br/>
            <a:r>
              <a:t>DYNAMIC PROGRAMMING</a:t>
            </a:r>
            <a:br/>
            <a:r>
              <a:t>Models candidates as items with scholarship cost and benefit. It maximizes total benefit within budget and slot constraints.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097280"/>
            <a:ext cx="3337560" cy="4754880"/>
          </a:xfrm>
          <a:prstGeom prst="roundRect">
            <a:avLst/>
          </a:prstGeom>
          <a:solidFill>
            <a:srgbClr val="F2F7FF"/>
          </a:solidFill>
          <a:ln>
            <a:solidFill>
              <a:srgbClr val="D4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94192" y="1225295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48657"/>
                </a:solidFill>
                <a:latin typeface="Aptos"/>
              </a:defRPr>
            </a:pPr>
            <a:r>
              <a:t>COMPLEXITY &amp;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1572768"/>
            <a:ext cx="2971800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2641"/>
                </a:solidFill>
                <a:latin typeface="Aptos"/>
              </a:defRPr>
            </a:pPr>
            <a:r>
              <a:t>Merge Sort: O(n log n), reliable for ranking.</a:t>
            </a:r>
            <a:br/>
            <a:br/>
            <a:r>
              <a:t>Greedy: O(n) after ranking, fast and easy to explain.</a:t>
            </a:r>
            <a:br/>
            <a:br/>
            <a:r>
              <a:t>DP: O(n × B × S), where B is scaled budget units and S is slots. Budget scaling keeps the live demo manageable.</a:t>
            </a:r>
            <a:br/>
            <a:br/>
            <a:r>
              <a:t>All visual steps are emitted from real algorithm events—never fake animation.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60120" y="164592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32C56"/>
                </a:solidFill>
                <a:latin typeface="Aptos"/>
              </a:defRPr>
            </a:pPr>
            <a:r>
              <a:t>Demo, Results &amp;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658368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55637A"/>
                </a:solidFill>
                <a:latin typeface="Aptos"/>
              </a:defRPr>
            </a:pPr>
            <a:r>
              <a:t>The dashboard lets judges inspect both process and outcome at the same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3429000" cy="4709160"/>
          </a:xfrm>
          <a:prstGeom prst="roundRect">
            <a:avLst/>
          </a:prstGeom>
          <a:solidFill>
            <a:srgbClr val="F2F7FF"/>
          </a:solidFill>
          <a:ln>
            <a:solidFill>
              <a:srgbClr val="D4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225295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065D1"/>
                </a:solidFill>
                <a:latin typeface="Aptos"/>
              </a:defRPr>
            </a:pPr>
            <a:r>
              <a:t>DEMO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572768"/>
            <a:ext cx="3063240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2641"/>
                </a:solidFill>
                <a:latin typeface="Aptos"/>
              </a:defRPr>
            </a:pPr>
            <a:r>
              <a:t>Load 20–30 fictional students with these CSV columns:</a:t>
            </a:r>
            <a:br/>
            <a:r>
              <a:t>Student_ID, Student_Name, Marks, Family_Income, Caste_Category, Parent_Government_Job, Scholarship_Amount.</a:t>
            </a:r>
            <a:br/>
            <a:br/>
            <a:r>
              <a:t>The validation view reports:</a:t>
            </a:r>
            <a:br/>
            <a:r>
              <a:t>✓ students detected</a:t>
            </a:r>
            <a:br/>
            <a:r>
              <a:t>✓ valid records</a:t>
            </a:r>
            <a:br/>
            <a:r>
              <a:t>⚠ invalid rows</a:t>
            </a:r>
            <a:br/>
            <a:r>
              <a:t>⚠ missing values</a:t>
            </a:r>
            <a:br/>
            <a:r>
              <a:t>⚠ duplicate IDs</a:t>
            </a:r>
            <a:br/>
            <a:br/>
            <a:r>
              <a:t>The user reviews data before initiating selection.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097280"/>
            <a:ext cx="3429000" cy="4709160"/>
          </a:xfrm>
          <a:prstGeom prst="roundRect">
            <a:avLst/>
          </a:prstGeom>
          <a:solidFill>
            <a:srgbClr val="F2F7FF"/>
          </a:solidFill>
          <a:ln>
            <a:solidFill>
              <a:srgbClr val="D4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62856" y="1225295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48657"/>
                </a:solidFill>
                <a:latin typeface="Aptos"/>
              </a:defRPr>
            </a:pPr>
            <a:r>
              <a:t>FINAL RESULTS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1572768"/>
            <a:ext cx="3063240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2641"/>
                </a:solidFill>
                <a:latin typeface="Aptos"/>
              </a:defRPr>
            </a:pPr>
            <a:r>
              <a:t>Dashboard statistics update dynamically:</a:t>
            </a:r>
            <a:br/>
            <a:r>
              <a:t>• Total students and eligible students</a:t>
            </a:r>
            <a:br/>
            <a:r>
              <a:t>• Scholarships selected</a:t>
            </a:r>
            <a:br/>
            <a:r>
              <a:t>• Total budget, budget used, remaining budget</a:t>
            </a:r>
            <a:br/>
            <a:r>
              <a:t>• Average marks</a:t>
            </a:r>
            <a:br/>
            <a:br/>
            <a:r>
              <a:t>Each selected student displays marks, income, requested amount, final score, and selection reason. Rejected students show whether the reason was ineligibility, budget, slots, or better DP combination.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097280"/>
            <a:ext cx="3429000" cy="4709160"/>
          </a:xfrm>
          <a:prstGeom prst="roundRect">
            <a:avLst/>
          </a:prstGeom>
          <a:solidFill>
            <a:srgbClr val="F2F7FF"/>
          </a:solidFill>
          <a:ln>
            <a:solidFill>
              <a:srgbClr val="D4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752" y="1225295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6A47B0"/>
                </a:solidFill>
                <a:latin typeface="Aptos"/>
              </a:defRPr>
            </a:pPr>
            <a:r>
              <a:t>COMPARISON &amp; BENEFITS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1572768"/>
            <a:ext cx="3063240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182641"/>
                </a:solidFill>
                <a:latin typeface="Aptos"/>
              </a:defRPr>
            </a:pPr>
            <a:r>
              <a:t>Comparison table and charts present:</a:t>
            </a:r>
            <a:br/>
            <a:r>
              <a:t>• Eligible and selected candidates</a:t>
            </a:r>
            <a:br/>
            <a:r>
              <a:t>• Budget utilization</a:t>
            </a:r>
            <a:br/>
            <a:r>
              <a:t>• Total benefit</a:t>
            </a:r>
            <a:br/>
            <a:r>
              <a:t>• Execution time</a:t>
            </a:r>
            <a:br/>
            <a:br/>
            <a:r>
              <a:t>Practical impact:</a:t>
            </a:r>
            <a:br/>
            <a:r>
              <a:t>• Consistent rules</a:t>
            </a:r>
            <a:br/>
            <a:r>
              <a:t>• Auditable choices</a:t>
            </a:r>
            <a:br/>
            <a:r>
              <a:t>• Easy demonstration of DAA</a:t>
            </a:r>
            <a:br/>
            <a:r>
              <a:t>• Transparent trade-offs</a:t>
            </a:r>
            <a:br/>
            <a:r>
              <a:t>• Stronger reviewer confidence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60120" y="164592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32C56"/>
                </a:solidFill>
                <a:latin typeface="Aptos"/>
              </a:defRPr>
            </a:pPr>
            <a:r>
              <a:t>Future Vision &amp; Final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658368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55637A"/>
                </a:solidFill>
                <a:latin typeface="Aptos"/>
              </a:defRPr>
            </a:pPr>
            <a:r>
              <a:t>From a hackathon prototype to an explainable decision-support tool.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429000" cy="4434840"/>
          </a:xfrm>
          <a:prstGeom prst="roundRect">
            <a:avLst/>
          </a:prstGeom>
          <a:solidFill>
            <a:srgbClr val="F2F7FF"/>
          </a:solidFill>
          <a:ln>
            <a:solidFill>
              <a:srgbClr val="D4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271016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48657"/>
                </a:solidFill>
                <a:latin typeface="Aptos"/>
              </a:defRPr>
            </a:pPr>
            <a:r>
              <a:t>CURRENT ACHIEVEMENT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618488"/>
            <a:ext cx="3063240" cy="3867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82641"/>
                </a:solidFill>
                <a:latin typeface="Aptos"/>
              </a:defRPr>
            </a:pPr>
            <a:r>
              <a:t>The prototype delivers:</a:t>
            </a:r>
            <a:br/>
            <a:br/>
            <a:r>
              <a:t>• CSV upload, validation, and preview</a:t>
            </a:r>
            <a:br/>
            <a:r>
              <a:t>• Configurable eligibility rules</a:t>
            </a:r>
            <a:br/>
            <a:r>
              <a:t>• Transparent score calculation</a:t>
            </a:r>
            <a:br/>
            <a:r>
              <a:t>• Real Merge Sort, Greedy, and DP execution</a:t>
            </a:r>
            <a:br/>
            <a:r>
              <a:t>• Persistent live activity panel</a:t>
            </a:r>
            <a:br/>
            <a:r>
              <a:t>• Explainable results and comparison charts</a:t>
            </a:r>
            <a:br/>
            <a:r>
              <a:t>• Fictional demo mode for judges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143000"/>
            <a:ext cx="3429000" cy="4434840"/>
          </a:xfrm>
          <a:prstGeom prst="roundRect">
            <a:avLst/>
          </a:prstGeom>
          <a:solidFill>
            <a:srgbClr val="F2F7FF"/>
          </a:solidFill>
          <a:ln>
            <a:solidFill>
              <a:srgbClr val="D4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62856" y="1271016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2065D1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1618488"/>
            <a:ext cx="3063240" cy="3867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82641"/>
                </a:solidFill>
                <a:latin typeface="Aptos"/>
              </a:defRPr>
            </a:pPr>
            <a:r>
              <a:t>• XLSX import/export and printable reports</a:t>
            </a:r>
            <a:br/>
            <a:r>
              <a:t>• Saved scholarship-policy presets</a:t>
            </a:r>
            <a:br/>
            <a:r>
              <a:t>• Larger-data performance optimization</a:t>
            </a:r>
            <a:br/>
            <a:r>
              <a:t>• Reviewer roles and approval workflow</a:t>
            </a:r>
            <a:br/>
            <a:r>
              <a:t>• Historical analysis dashboards</a:t>
            </a:r>
            <a:br/>
            <a:r>
              <a:t>• More configurable ranking models</a:t>
            </a:r>
            <a:br/>
            <a:br/>
            <a:r>
              <a:t>Any enhancement should preserve transparency, data privacy, and explicit policy control.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143000"/>
            <a:ext cx="3429000" cy="4434840"/>
          </a:xfrm>
          <a:prstGeom prst="roundRect">
            <a:avLst/>
          </a:prstGeom>
          <a:solidFill>
            <a:srgbClr val="F2F7FF"/>
          </a:solidFill>
          <a:ln>
            <a:solidFill>
              <a:srgbClr val="D4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752" y="1271016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6A47B0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1618488"/>
            <a:ext cx="3063240" cy="3867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82641"/>
                </a:solidFill>
                <a:latin typeface="Aptos"/>
              </a:defRPr>
            </a:pPr>
            <a:r>
              <a:t>This project shows how DAA solves a meaningful allocation problem.</a:t>
            </a:r>
            <a:br/>
            <a:br/>
            <a:r>
              <a:t>Merge Sort creates a clear ranking.</a:t>
            </a:r>
            <a:br/>
            <a:r>
              <a:t>Greedy offers fast feasible choices.</a:t>
            </a:r>
            <a:br/>
            <a:r>
              <a:t>Dynamic Programming finds a better constrained objective when appropriate.</a:t>
            </a:r>
            <a:br/>
            <a:br/>
            <a:r>
              <a:t>Most importantly, every result stays visible, explainable, and tied to the uploaded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283A5E-2FB3-1106-39C9-614A8F052607}"/>
              </a:ext>
            </a:extLst>
          </p:cNvPr>
          <p:cNvSpPr txBox="1"/>
          <p:nvPr/>
        </p:nvSpPr>
        <p:spPr>
          <a:xfrm>
            <a:off x="3048000" y="283129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47632223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31</TotalTime>
  <Words>1394</Words>
  <Application>Microsoft Office PowerPoint</Application>
  <PresentationFormat>Widescreen</PresentationFormat>
  <Paragraphs>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Haettenschweiler</vt:lpstr>
      <vt:lpstr>Trade Gothic Next Light</vt:lpstr>
      <vt:lpstr>Editorial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SARTHIKA</dc:creator>
  <cp:keywords/>
  <dc:description>generated using python-pptx</dc:description>
  <cp:lastModifiedBy>sarthika Gorita</cp:lastModifiedBy>
  <cp:revision>2</cp:revision>
  <dcterms:created xsi:type="dcterms:W3CDTF">2013-01-27T09:14:16Z</dcterms:created>
  <dcterms:modified xsi:type="dcterms:W3CDTF">2026-10-03T07:08:25Z</dcterms:modified>
  <cp:category/>
</cp:coreProperties>
</file>